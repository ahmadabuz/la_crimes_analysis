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5" r:id="rId1"/>
  </p:sldMasterIdLst>
  <p:sldIdLst>
    <p:sldId id="256" r:id="rId2"/>
    <p:sldId id="257" r:id="rId3"/>
    <p:sldId id="258" r:id="rId4"/>
    <p:sldId id="260" r:id="rId5"/>
    <p:sldId id="269" r:id="rId6"/>
    <p:sldId id="271" r:id="rId7"/>
    <p:sldId id="270" r:id="rId8"/>
    <p:sldId id="268" r:id="rId9"/>
    <p:sldId id="273" r:id="rId10"/>
    <p:sldId id="274" r:id="rId11"/>
    <p:sldId id="276" r:id="rId12"/>
    <p:sldId id="280" r:id="rId13"/>
    <p:sldId id="281" r:id="rId14"/>
    <p:sldId id="284" r:id="rId15"/>
    <p:sldId id="282" r:id="rId16"/>
    <p:sldId id="278" r:id="rId17"/>
    <p:sldId id="277" r:id="rId18"/>
    <p:sldId id="275" r:id="rId19"/>
    <p:sldId id="279" r:id="rId20"/>
    <p:sldId id="272" r:id="rId21"/>
    <p:sldId id="266" r:id="rId22"/>
    <p:sldId id="267" r:id="rId23"/>
    <p:sldId id="263" r:id="rId24"/>
    <p:sldId id="264" r:id="rId25"/>
    <p:sldId id="262" r:id="rId26"/>
    <p:sldId id="259" r:id="rId27"/>
    <p:sldId id="26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MAD HUSAM AHMAD ABU ZAYAD" initials="AHAAZ" lastIdx="1" clrIdx="0">
    <p:extLst>
      <p:ext uri="{19B8F6BF-5375-455C-9EA6-DF929625EA0E}">
        <p15:presenceInfo xmlns:p15="http://schemas.microsoft.com/office/powerpoint/2012/main" userId="S::AHM0225529@ju.edu.jo::85356df5-360f-461f-bdee-cf4f4af687e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576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95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82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30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52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085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82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7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15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51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38858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91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67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48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56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99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1DFA867-2045-490B-A9B9-43815C3F08C3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AEA62-839D-42D8-8C96-5E46C50BC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338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  <p:sldLayoutId id="2147483851" r:id="rId16"/>
    <p:sldLayoutId id="214748385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7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7" Type="http://schemas.openxmlformats.org/officeDocument/2006/relationships/slide" Target="slide19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slide" Target="slide16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7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131E-827E-9602-28F9-BBFD8F413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037" y="1964079"/>
            <a:ext cx="8825658" cy="632820"/>
          </a:xfrm>
        </p:spPr>
        <p:txBody>
          <a:bodyPr/>
          <a:lstStyle/>
          <a:p>
            <a:pPr algn="ctr"/>
            <a:r>
              <a:rPr lang="en-US" sz="4400" dirty="0"/>
              <a:t>LA Crime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15692-AE1B-3FE2-0C95-226CAECEF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3966" y="2852613"/>
            <a:ext cx="1627139" cy="482257"/>
          </a:xfrm>
        </p:spPr>
        <p:txBody>
          <a:bodyPr>
            <a:noAutofit/>
          </a:bodyPr>
          <a:lstStyle/>
          <a:p>
            <a:r>
              <a:rPr lang="en-US" sz="2800" dirty="0"/>
              <a:t>Phase 2</a:t>
            </a:r>
          </a:p>
        </p:txBody>
      </p:sp>
    </p:spTree>
    <p:extLst>
      <p:ext uri="{BB962C8B-B14F-4D97-AF65-F5344CB8AC3E}">
        <p14:creationId xmlns:p14="http://schemas.microsoft.com/office/powerpoint/2010/main" val="3331950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89283-D65B-F551-E843-0B3A5C0D5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ndalus" panose="02020603050405020304" pitchFamily="18" charset="-78"/>
                <a:cs typeface="Andalus" panose="02020603050405020304" pitchFamily="18" charset="-78"/>
              </a:rPr>
              <a:t>Out of the Handcuffs: 97% of LA Burglars Are Still Loose</a:t>
            </a:r>
            <a:endParaRPr lang="en-US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9EDB-01EC-02A5-3CB8-F6A731C9F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/>
              <a:t>In Los Angeles, a theft or burglary happens every couple of minutes. For every 100 of those crimes — only 3 end in an arrest. The other 97 walk free.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55639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67CC-520C-0D62-E63A-AA7E1631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What We Found: The Baseline</a:t>
            </a:r>
            <a:br>
              <a:rPr lang="en-GB" dirty="0"/>
            </a:br>
            <a:r>
              <a:rPr lang="en-GB" dirty="0"/>
              <a:t>(phase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592BD-545B-B2FE-4B21-63A15CD8A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1400" dirty="0"/>
              <a:t>53.5% of all crimes = Property Crime, Vehicle Theft = #1</a:t>
            </a:r>
          </a:p>
          <a:p>
            <a:pPr marL="0" indent="0">
              <a:buNone/>
            </a:pPr>
            <a:endParaRPr lang="en-GB" sz="1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GB" sz="1400" dirty="0"/>
              <a:t>Higher crime areas = lower arrest rates — resource strain is measurable</a:t>
            </a:r>
          </a:p>
          <a:p>
            <a:pPr marL="0" indent="0">
              <a:buNone/>
            </a:pPr>
            <a:endParaRPr lang="en-GB" sz="1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GB" sz="1400" dirty="0"/>
              <a:t>Male victims outnumber female across ALL crime categories</a:t>
            </a:r>
          </a:p>
          <a:p>
            <a:pPr marL="0" indent="0">
              <a:buNone/>
            </a:pPr>
            <a:endParaRPr lang="en-GB" sz="1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GB" sz="1400" dirty="0"/>
              <a:t>Police are least effective exactly where they're needed most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sz="2000" dirty="0"/>
              <a:t>The worst problem affects everyone, is everywhere, and is barely policed.</a:t>
            </a:r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FF2ABD23-606E-2529-67B4-3C5E3B4FD67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57590490"/>
                  </p:ext>
                </p:extLst>
              </p:nvPr>
            </p:nvGraphicFramePr>
            <p:xfrm>
              <a:off x="8395448" y="3167903"/>
              <a:ext cx="3048000" cy="1714500"/>
            </p:xfrm>
            <a:graphic>
              <a:graphicData uri="http://schemas.microsoft.com/office/powerpoint/2016/slidezoom">
                <pslz:sldZm>
                  <pslz:sldZmObj sldId="259" cId="2198177513">
                    <pslz:zmPr id="{1F0D8E37-B33C-45E4-8D37-1C9D0DE0F7CB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Slide Zoom 1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FF2ABD23-606E-2529-67B4-3C5E3B4FD67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95448" y="316790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1817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B75B-54A4-69FA-7518-F30CC1DF2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How Bad Is the Arrest Rate? Now We Know Exactly</a:t>
            </a:r>
            <a:endParaRPr lang="en-US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26BD28-BCFF-393E-4523-B668E2C2D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634798"/>
            <a:ext cx="4652030" cy="32385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47365E-51FF-6D76-FE87-EA80CEC8B044}"/>
              </a:ext>
            </a:extLst>
          </p:cNvPr>
          <p:cNvSpPr txBox="1"/>
          <p:nvPr/>
        </p:nvSpPr>
        <p:spPr>
          <a:xfrm>
            <a:off x="5548067" y="2053719"/>
            <a:ext cx="6643933" cy="1701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Property Crime = </a:t>
            </a:r>
            <a:r>
              <a:rPr lang="en-GB" b="1" dirty="0"/>
              <a:t>3.6%</a:t>
            </a:r>
            <a:r>
              <a:rPr lang="en-GB" dirty="0"/>
              <a:t> — lowest of all categories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Violent Crime = </a:t>
            </a:r>
            <a:r>
              <a:rPr lang="en-GB" b="1" dirty="0"/>
              <a:t>17.6%</a:t>
            </a:r>
            <a:r>
              <a:rPr lang="en-GB" dirty="0"/>
              <a:t> — ~5x higher than property crime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Overall average = </a:t>
            </a:r>
            <a:r>
              <a:rPr lang="en-GB" b="1" dirty="0"/>
              <a:t>11.2%</a:t>
            </a:r>
            <a:r>
              <a:rPr lang="en-GB" dirty="0"/>
              <a:t> — dragged down by property crime volume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B67DA-5368-600E-8023-31C769CB5683}"/>
              </a:ext>
            </a:extLst>
          </p:cNvPr>
          <p:cNvSpPr txBox="1"/>
          <p:nvPr/>
        </p:nvSpPr>
        <p:spPr>
          <a:xfrm>
            <a:off x="1048872" y="5223202"/>
            <a:ext cx="108831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96 out of 100 property crimes go unpunished. This is not a policing gap — it's a policing collapse.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1490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2D70-5471-810A-44C4-E428A7C3A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497541"/>
          </a:xfrm>
        </p:spPr>
        <p:txBody>
          <a:bodyPr/>
          <a:lstStyle/>
          <a:p>
            <a:r>
              <a:rPr lang="en-GB" sz="2800" b="0" i="0" dirty="0">
                <a:effectLst/>
              </a:rPr>
              <a:t>Property and Violent Crime Run on Opposite Clocks</a:t>
            </a:r>
            <a:br>
              <a:rPr lang="en-GB" b="0" i="0" dirty="0">
                <a:effectLst/>
              </a:rPr>
            </a:b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E2D84-44A8-30AF-67C8-0E0AB9047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021976"/>
            <a:ext cx="8946541" cy="522642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0" i="1" dirty="0">
                <a:solidFill>
                  <a:schemeClr val="tx2"/>
                </a:solidFill>
                <a:effectLst/>
                <a:latin typeface="+mn-lt"/>
              </a:rPr>
              <a:t>Property crime = weekday problem. Violent crime = weekend problem. They don't share a schedule.</a:t>
            </a:r>
            <a:endParaRPr lang="en-GB" i="1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Property crime has one hotspot — noon. Violent crime has one quiet window — before dawn. For 20+ hours a day, it never stops.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0" i="1" dirty="0">
                <a:solidFill>
                  <a:schemeClr val="tx2"/>
                </a:solidFill>
                <a:effectLst/>
                <a:latin typeface="+mn-lt"/>
              </a:rPr>
              <a:t>One patrol strategy cannot address both. Weekdays need property focus. Weekends need violent crime focus.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i="1" dirty="0">
              <a:solidFill>
                <a:schemeClr val="tx2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FD2CAA-BF55-C69F-9505-4E77DA33D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27" y="3263153"/>
            <a:ext cx="5600700" cy="35948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DA560AB-46E9-11F8-7218-8B7B7A719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518" y="3429000"/>
            <a:ext cx="571948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16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9232E-E8DE-2B1C-65B2-2FB01C106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Overload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59098-7FEF-51E1-04D3-0435B9988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Harbor closes 12.9% of cases with the lower crime volume. </a:t>
            </a:r>
          </a:p>
          <a:p>
            <a:pPr marL="0" indent="0">
              <a:buNone/>
            </a:pPr>
            <a:r>
              <a:rPr lang="en-GB" dirty="0"/>
              <a:t>Central closes only 6.3% with the higher crime volume. </a:t>
            </a:r>
          </a:p>
          <a:p>
            <a:pPr marL="0" indent="0">
              <a:buNone/>
            </a:pPr>
            <a:r>
              <a:rPr lang="en-GB" dirty="0"/>
              <a:t>Overloaded divisions may not fail because of poor policing — they may fail because of overwhelming workload.</a:t>
            </a:r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C85E8330-918B-C1BE-8221-0763C3368CD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1143121"/>
                  </p:ext>
                </p:extLst>
              </p:nvPr>
            </p:nvGraphicFramePr>
            <p:xfrm>
              <a:off x="3352799" y="3965897"/>
              <a:ext cx="4590473" cy="2300431"/>
            </p:xfrm>
            <a:graphic>
              <a:graphicData uri="http://schemas.microsoft.com/office/powerpoint/2016/slidezoom">
                <pslz:sldZm>
                  <pslz:sldZmObj sldId="272" cId="648911592">
                    <pslz:zmPr id="{225E16DB-1241-4D41-8A2F-F7D3E5A8B9B1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590473" cy="230043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85E8330-918B-C1BE-8221-0763C3368C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2799" y="3965897"/>
                <a:ext cx="4590473" cy="230043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5453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E939C-3D7B-1876-6261-6FAFA800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35423"/>
          </a:xfrm>
        </p:spPr>
        <p:txBody>
          <a:bodyPr/>
          <a:lstStyle/>
          <a:p>
            <a:r>
              <a:rPr lang="en-GB" sz="2800" i="0" dirty="0">
                <a:effectLst/>
              </a:rPr>
              <a:t>Statistical Certainty Varies by Arrest Rate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3A4CD-CEDF-D5CF-8D19-57D1907B5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219200"/>
            <a:ext cx="8946541" cy="4742329"/>
          </a:xfrm>
        </p:spPr>
        <p:txBody>
          <a:bodyPr/>
          <a:lstStyle/>
          <a:p>
            <a:pPr marL="0" indent="0">
              <a:buNone/>
            </a:pPr>
            <a:r>
              <a:rPr lang="en-GB" b="0" i="0" dirty="0">
                <a:solidFill>
                  <a:schemeClr val="tx2"/>
                </a:solidFill>
                <a:effectLst/>
                <a:latin typeface="+mn-lt"/>
              </a:rPr>
              <a:t>Phase 1 found: Higher crime areas = lower arrest rates. Police are least effective where needed most.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chemeClr val="tx2"/>
                </a:solidFill>
                <a:effectLst/>
                <a:latin typeface="+mn-lt"/>
              </a:rPr>
              <a:t>High-crime areas (Central, Pacific, Southeast) → low arrest rates → </a:t>
            </a:r>
            <a:r>
              <a:rPr lang="en-GB" sz="1800" b="1" i="0" dirty="0">
                <a:solidFill>
                  <a:schemeClr val="tx2"/>
                </a:solidFill>
                <a:effectLst/>
                <a:latin typeface="+mn-lt"/>
              </a:rPr>
              <a:t>high certainty</a:t>
            </a:r>
            <a:r>
              <a:rPr lang="en-GB" sz="1800" b="0" i="0" dirty="0">
                <a:solidFill>
                  <a:schemeClr val="tx2"/>
                </a:solidFill>
                <a:effectLst/>
                <a:latin typeface="+mn-lt"/>
              </a:rPr>
              <a:t> </a:t>
            </a:r>
          </a:p>
          <a:p>
            <a:pPr marL="0" indent="0">
              <a:buNone/>
            </a:pPr>
            <a:endParaRPr lang="en-GB" sz="1800" b="0" i="0" dirty="0">
              <a:solidFill>
                <a:schemeClr val="tx2"/>
              </a:solidFill>
              <a:effectLst/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>
                    <a:lumMod val="95000"/>
                  </a:schemeClr>
                </a:solidFill>
                <a:latin typeface="+mn-lt"/>
              </a:rPr>
              <a:t>Even areas with slightly better rates (77th Street, Southwest ~8%) — still confirmed failures with high certainty</a:t>
            </a:r>
          </a:p>
          <a:p>
            <a:pPr marL="0" indent="0">
              <a:buNone/>
            </a:pPr>
            <a:endParaRPr lang="en-GB" b="0" i="0" dirty="0">
              <a:solidFill>
                <a:schemeClr val="tx1">
                  <a:lumMod val="95000"/>
                </a:schemeClr>
              </a:solidFill>
              <a:effectLst/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chemeClr val="tx2"/>
                </a:solidFill>
                <a:effectLst/>
                <a:latin typeface="+mn-lt"/>
              </a:rPr>
              <a:t>Areas with high arrest rates → </a:t>
            </a:r>
            <a:r>
              <a:rPr lang="en-GB" sz="1800" b="1" i="0" dirty="0">
                <a:solidFill>
                  <a:schemeClr val="tx2"/>
                </a:solidFill>
                <a:effectLst/>
                <a:latin typeface="+mn-lt"/>
              </a:rPr>
              <a:t>low certainty</a:t>
            </a:r>
            <a:r>
              <a:rPr lang="en-GB" sz="1800" b="0" i="0" dirty="0">
                <a:solidFill>
                  <a:schemeClr val="tx2"/>
                </a:solidFill>
                <a:effectLst/>
                <a:latin typeface="+mn-lt"/>
              </a:rPr>
              <a:t> </a:t>
            </a:r>
            <a:r>
              <a:rPr lang="en-GB" sz="1800" b="0" i="0" dirty="0">
                <a:solidFill>
                  <a:srgbClr val="0F1115"/>
                </a:solidFill>
                <a:effectLst/>
                <a:latin typeface="+mn-lt"/>
              </a:rPr>
              <a:t> </a:t>
            </a:r>
          </a:p>
          <a:p>
            <a:pPr marL="0" indent="0">
              <a:buNone/>
            </a:pPr>
            <a:endParaRPr lang="en-GB" sz="1800" b="0" i="0" dirty="0">
              <a:solidFill>
                <a:srgbClr val="0F1115"/>
              </a:solidFill>
              <a:effectLst/>
              <a:latin typeface="+mn-lt"/>
            </a:endParaRPr>
          </a:p>
          <a:p>
            <a:pPr marL="0" indent="0">
              <a:buNone/>
            </a:pPr>
            <a:r>
              <a:rPr lang="en-GB" b="0" i="1" dirty="0">
                <a:solidFill>
                  <a:schemeClr val="tx2"/>
                </a:solidFill>
                <a:effectLst/>
                <a:latin typeface="+mn-lt"/>
              </a:rPr>
              <a:t>Failure is certain. Success is not.</a:t>
            </a:r>
            <a:br>
              <a:rPr lang="en-GB" dirty="0">
                <a:solidFill>
                  <a:schemeClr val="tx2"/>
                </a:solidFill>
                <a:latin typeface="+mn-lt"/>
              </a:rPr>
            </a:br>
            <a:endParaRPr lang="en-US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4B992B-348E-A830-2489-817CF2303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389" y="3307976"/>
            <a:ext cx="6194612" cy="34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747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26487-21F9-DD79-8B0E-C11A10E1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37512"/>
          </a:xfrm>
        </p:spPr>
        <p:txBody>
          <a:bodyPr/>
          <a:lstStyle/>
          <a:p>
            <a:r>
              <a:rPr lang="en-US" sz="2800" dirty="0"/>
              <a:t>The Data Proves Complexity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E662E6-0C06-8DEA-CFB1-BAF4FEF32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59" y="1090230"/>
            <a:ext cx="4105835" cy="2925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D24498-93A9-54DC-EECD-F7EE452FC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881" y="933959"/>
            <a:ext cx="4105836" cy="30822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56D394-79E3-E632-66EE-EE4E1B37763E}"/>
              </a:ext>
            </a:extLst>
          </p:cNvPr>
          <p:cNvSpPr txBox="1"/>
          <p:nvPr/>
        </p:nvSpPr>
        <p:spPr>
          <a:xfrm>
            <a:off x="934268" y="4106870"/>
            <a:ext cx="73292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All correlations between variables = near zero (r &lt; 0.05)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 single component dominates — PC1 captures only 22%,</a:t>
            </a:r>
          </a:p>
          <a:p>
            <a:r>
              <a:rPr lang="en-GB" dirty="0"/>
              <a:t> requiring all 8 components to explain the full picture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8 components needed — variance spreads equally across all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7DF4E5-5239-F40C-EF8F-24689EFC1F79}"/>
              </a:ext>
            </a:extLst>
          </p:cNvPr>
          <p:cNvSpPr txBox="1"/>
          <p:nvPr/>
        </p:nvSpPr>
        <p:spPr>
          <a:xfrm>
            <a:off x="486033" y="6082116"/>
            <a:ext cx="11698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Every district needs its own strategy. A citywide blanket policy is not just ineffective — it's statistically unjustified.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607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329A-E312-5631-C075-33E3063EF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78223"/>
          </a:xfrm>
        </p:spPr>
        <p:txBody>
          <a:bodyPr/>
          <a:lstStyle/>
          <a:p>
            <a:r>
              <a:rPr lang="en-GB" sz="2800" dirty="0"/>
              <a:t>2024 Drop Is a Data Artifact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D3D9D-D676-E8EF-5974-AD707B53F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331259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Every crime category drops simultaneously in late 2024 — that pattern is statistically impossible if it were genuine. This is incomplete data, not real improvement. Policy decisions based on 2024 numbers would be premature.</a:t>
            </a:r>
          </a:p>
          <a:p>
            <a:endParaRPr lang="en-GB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13405D-BDD3-AE00-7FBD-A218E5C57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93" y="2445124"/>
            <a:ext cx="9807946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991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22DF-7D0D-836C-D447-A0FFAADBB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90503"/>
            <a:ext cx="9404723" cy="721658"/>
          </a:xfrm>
        </p:spPr>
        <p:txBody>
          <a:bodyPr/>
          <a:lstStyle/>
          <a:p>
            <a:r>
              <a:rPr lang="en-GB" sz="3200" dirty="0"/>
              <a:t>What the Data Recommends</a:t>
            </a:r>
            <a:br>
              <a:rPr lang="en-GB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199CE-4CEB-1822-E46D-1D42C2798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458" y="1109385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Solution 1 — Targeted Daytime Property Crime Patrol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F1507-DA5F-54C7-36E8-06136F1AECB6}"/>
              </a:ext>
            </a:extLst>
          </p:cNvPr>
          <p:cNvSpPr txBox="1"/>
          <p:nvPr/>
        </p:nvSpPr>
        <p:spPr>
          <a:xfrm>
            <a:off x="808458" y="1553134"/>
            <a:ext cx="1130149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Property crime peaks at noon on weekdays and targets older victims in western districts. </a:t>
            </a:r>
          </a:p>
          <a:p>
            <a:r>
              <a:rPr lang="en-GB" sz="1600" dirty="0"/>
              <a:t>Pacific confirms this with high statistical certainty — mean victim age 41.2 . </a:t>
            </a:r>
          </a:p>
          <a:p>
            <a:r>
              <a:rPr lang="en-GB" sz="1600" dirty="0"/>
              <a:t>Other western districts show the same trend but with less certainty — supporting indicators, not hard conclusions.</a:t>
            </a:r>
          </a:p>
          <a:p>
            <a:endParaRPr lang="en-GB" sz="1600" dirty="0"/>
          </a:p>
          <a:p>
            <a:r>
              <a:rPr lang="en-GB" sz="1600" dirty="0"/>
              <a:t>Gap:</a:t>
            </a:r>
          </a:p>
          <a:p>
            <a:r>
              <a:rPr lang="en-GB" sz="1600" dirty="0"/>
              <a:t>Current arrest rate = 3.6%. Reactive uniform patrol wouldn’t be an appropriate action. </a:t>
            </a:r>
          </a:p>
          <a:p>
            <a:endParaRPr lang="en-GB" sz="1600" dirty="0"/>
          </a:p>
          <a:p>
            <a:r>
              <a:rPr lang="en-GB" sz="1600" dirty="0"/>
              <a:t>Action:</a:t>
            </a:r>
          </a:p>
          <a:p>
            <a:r>
              <a:rPr lang="en-GB" sz="1600" dirty="0"/>
              <a:t>Increase officer presence in commercial areas of western divisions during 9am–2pm on weekdays. </a:t>
            </a:r>
          </a:p>
          <a:p>
            <a:r>
              <a:rPr lang="en-GB" sz="1600" dirty="0"/>
              <a:t>Match the deployment to the crime schedule — not to a uniform citywide timetable.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D8BEE6F0-F3E9-D362-6C8B-56CEDC2B05D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79239376"/>
                  </p:ext>
                </p:extLst>
              </p:nvPr>
            </p:nvGraphicFramePr>
            <p:xfrm>
              <a:off x="2179800" y="4502431"/>
              <a:ext cx="3799659" cy="2132476"/>
            </p:xfrm>
            <a:graphic>
              <a:graphicData uri="http://schemas.microsoft.com/office/powerpoint/2016/slidezoom">
                <pslz:sldZm>
                  <pslz:sldZmObj sldId="275" cId="1458651693">
                    <pslz:zmPr id="{1FD324AC-945A-4034-A47A-37AD9CDD0D0F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799659" cy="21324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D8BEE6F0-F3E9-D362-6C8B-56CEDC2B05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9800" y="4502431"/>
                <a:ext cx="3799659" cy="21324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2E06FA16-4C27-5F3E-6C4E-546CCA13CF9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49915893"/>
                  </p:ext>
                </p:extLst>
              </p:nvPr>
            </p:nvGraphicFramePr>
            <p:xfrm>
              <a:off x="6212543" y="4502431"/>
              <a:ext cx="3945612" cy="2132476"/>
            </p:xfrm>
            <a:graphic>
              <a:graphicData uri="http://schemas.microsoft.com/office/powerpoint/2016/slidezoom">
                <pslz:sldZm>
                  <pslz:sldZmObj sldId="277" cId="580092994">
                    <pslz:zmPr id="{28A49A46-AEDA-43B8-8428-BD7BA7D450FF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945612" cy="21324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2E06FA16-4C27-5F3E-6C4E-546CCA13CF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12543" y="4502431"/>
                <a:ext cx="3945612" cy="21324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2857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96BB6-25BE-1A6D-225F-562ED396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600" dirty="0"/>
              <a:t>Solution 2 — Permanent Presence for an Unpredictable Crime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EDA17-D76D-E365-7B5B-A3F852CFF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31260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/>
              <a:t>Violent crime cannot be scheduled around. The 2D density shows equal activity across nearly all 24 hours. It has only one quiet window — before dawn. And it rises on weekends.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Gap :</a:t>
            </a:r>
          </a:p>
          <a:p>
            <a:pPr marL="0" indent="0">
              <a:buNone/>
            </a:pPr>
            <a:r>
              <a:rPr lang="en-GB" sz="1600" dirty="0"/>
              <a:t>Scheduled deployment cannot address a crime with no predictable peak.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Action:</a:t>
            </a:r>
          </a:p>
          <a:p>
            <a:pPr marL="0" indent="0">
              <a:buNone/>
            </a:pPr>
            <a:r>
              <a:rPr lang="en-GB" sz="1400" dirty="0"/>
              <a:t>Districts with the younger victim profiles — Newton, Rampart, Southeast, Hollywood — are the most likely violent crime concentration points. Increase evening and weekend presence there. The demographic evidence is statistically confirmed.</a:t>
            </a:r>
            <a:endParaRPr lang="en-US" sz="1600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39566B30-1422-0E29-54CC-F1E44E15C0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02570301"/>
                  </p:ext>
                </p:extLst>
              </p:nvPr>
            </p:nvGraphicFramePr>
            <p:xfrm>
              <a:off x="1165829" y="5004753"/>
              <a:ext cx="3048000" cy="1714500"/>
            </p:xfrm>
            <a:graphic>
              <a:graphicData uri="http://schemas.microsoft.com/office/powerpoint/2016/slidezoom">
                <pslz:sldZm>
                  <pslz:sldZmObj sldId="277" cId="580092994">
                    <pslz:zmPr id="{3C4E1243-60D7-4D97-A5EA-61A4743B9F2E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9566B30-1422-0E29-54CC-F1E44E15C0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65829" y="500475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56B87DD6-A537-1873-ECFC-F8EB2CAD0BD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08573158"/>
                  </p:ext>
                </p:extLst>
              </p:nvPr>
            </p:nvGraphicFramePr>
            <p:xfrm>
              <a:off x="4733547" y="5004753"/>
              <a:ext cx="3048000" cy="1714500"/>
            </p:xfrm>
            <a:graphic>
              <a:graphicData uri="http://schemas.microsoft.com/office/powerpoint/2016/slidezoom">
                <pslz:sldZm>
                  <pslz:sldZmObj sldId="278" cId="1715696589">
                    <pslz:zmPr id="{5463CFBC-FA5E-44B2-BF3B-E425E5DEA781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Slide Zoom 6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56B87DD6-A537-1873-ECFC-F8EB2CAD0BD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3547" y="500475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60232DA1-EA25-D72B-63B2-657FA30D450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8665642"/>
                  </p:ext>
                </p:extLst>
              </p:nvPr>
            </p:nvGraphicFramePr>
            <p:xfrm>
              <a:off x="8328511" y="5004753"/>
              <a:ext cx="3048000" cy="1714500"/>
            </p:xfrm>
            <a:graphic>
              <a:graphicData uri="http://schemas.microsoft.com/office/powerpoint/2016/slidezoom">
                <pslz:sldZm>
                  <pslz:sldZmObj sldId="279" cId="2895830708">
                    <pslz:zmPr id="{A16F47F2-3EA2-47E5-AB5E-B8F28F1C4100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9" name="Slide Zoom 8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60232DA1-EA25-D72B-63B2-657FA30D450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28511" y="500475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4898086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6E43D-E0DA-28CC-75ED-CF40A222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Solution 3 — The Overload Fix</a:t>
            </a:r>
            <a:br>
              <a:rPr lang="en-GB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B0BB5-C3F4-2E35-9EF9-8B15133C7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228165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dirty="0"/>
              <a:t>Central Division handles 65,500 crimes — the highest in LA — and closes only 6.3% of cases. Harbor handles half that volume and closes 12.9%. The difference is not capability — it may be workload.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Gap :</a:t>
            </a:r>
          </a:p>
          <a:p>
            <a:pPr marL="0" indent="0">
              <a:buNone/>
            </a:pPr>
            <a:r>
              <a:rPr lang="en-GB" sz="1600" dirty="0"/>
              <a:t>Overloaded divisions may not fail because officers are ineffective but because the caseload is unsustainable.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dirty="0"/>
              <a:t>Action</a:t>
            </a:r>
          </a:p>
          <a:p>
            <a:pPr marL="0" indent="0">
              <a:buNone/>
            </a:pPr>
            <a:r>
              <a:rPr lang="en-GB" sz="1600" dirty="0"/>
              <a:t>Redistribute detective capacity to Central, Pacific, and Southeast specifically for property crime follow-up. Reducing caseload per officer is the intervention — not retraining or restructuring.</a:t>
            </a:r>
            <a:endParaRPr lang="en-US" sz="160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0E3CEC4D-B3C9-F48D-3B01-DE1DC0FF6DD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40426468"/>
                  </p:ext>
                </p:extLst>
              </p:nvPr>
            </p:nvGraphicFramePr>
            <p:xfrm>
              <a:off x="4356848" y="5004753"/>
              <a:ext cx="3048000" cy="1714500"/>
            </p:xfrm>
            <a:graphic>
              <a:graphicData uri="http://schemas.microsoft.com/office/powerpoint/2016/slidezoom">
                <pslz:sldZm>
                  <pslz:sldZmObj sldId="272" cId="648911592">
                    <pslz:zmPr id="{41C318AE-B327-41E1-A39C-917CA37890D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E3CEC4D-B3C9-F48D-3B01-DE1DC0FF6D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6848" y="500475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0069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AF33-D139-51D6-7B5D-9253D6B5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76835"/>
          </a:xfrm>
        </p:spPr>
        <p:txBody>
          <a:bodyPr/>
          <a:lstStyle/>
          <a:p>
            <a:r>
              <a:rPr lang="en-GB" sz="2800" dirty="0"/>
              <a:t>Solution 4 — Division-Specific Scheduling</a:t>
            </a:r>
            <a:br>
              <a:rPr lang="en-GB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4DCB2-FAA3-6862-2842-AD2DAE5BA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665" y="1210235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The correlogram proves no single variable predicts crime across LA. The PCA requires 8 components to explain the full picture. The small multiples show 19 out of 21 divisions peak at noon — but each has its own rhythm.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Gap:</a:t>
            </a:r>
            <a:br>
              <a:rPr lang="en-GB" sz="1800" dirty="0"/>
            </a:br>
            <a:r>
              <a:rPr lang="en-GB" sz="1600" dirty="0"/>
              <a:t>A citywide blanket shift schedule is not just inefficient — it is statistically unjustified.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800" dirty="0"/>
              <a:t>Action</a:t>
            </a:r>
            <a:r>
              <a:rPr lang="en-GB" sz="1600" dirty="0"/>
              <a:t> :</a:t>
            </a:r>
            <a:br>
              <a:rPr lang="en-GB" sz="1600" dirty="0"/>
            </a:br>
            <a:r>
              <a:rPr lang="en-GB" sz="1600" dirty="0"/>
              <a:t>data-driven deployment built around each division's confirmed hourly peak. The data exists for all 21 divisions — it just needs to be used.</a:t>
            </a:r>
            <a:endParaRPr lang="en-US" sz="1800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29E390EB-D3DE-E749-C6AB-E3341E60D2F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61432952"/>
                  </p:ext>
                </p:extLst>
              </p:nvPr>
            </p:nvGraphicFramePr>
            <p:xfrm>
              <a:off x="4392706" y="4790515"/>
              <a:ext cx="3048000" cy="1714500"/>
            </p:xfrm>
            <a:graphic>
              <a:graphicData uri="http://schemas.microsoft.com/office/powerpoint/2016/slidezoom">
                <pslz:sldZm>
                  <pslz:sldZmObj sldId="282" cId="2888379503">
                    <pslz:zmPr id="{4682B1A0-DC39-47C6-B2B5-F1D63CC2FE28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Slide Zoom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29E390EB-D3DE-E749-C6AB-E3341E60D2F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92706" y="4790515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1602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942A4E-19F5-7F22-079B-EE25FEAA0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52" y="1183342"/>
            <a:ext cx="9807946" cy="455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83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71906C-ADDA-22E1-5206-EDE724902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88" y="381000"/>
            <a:ext cx="10263748" cy="639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79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B194E0-9513-1885-C117-5F127D3F8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34" y="1349188"/>
            <a:ext cx="1170622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96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574B30-F9AD-000C-19E4-29EEA1754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87" y="952500"/>
            <a:ext cx="1170622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092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B17289-412F-5D35-72A8-673547E26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154" y="3429000"/>
            <a:ext cx="8005482" cy="35634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495AB4-0EDA-C9B4-2A3C-508613155B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58" y="172288"/>
            <a:ext cx="9605683" cy="318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1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04E371-1008-EAC2-4959-7FC2FD7D4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765" y="1147482"/>
            <a:ext cx="7297270" cy="494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30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13CB1E-3011-C7A6-3C56-122504290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8662" y="1218079"/>
            <a:ext cx="5955825" cy="4762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7B30A1-09E6-CED4-9FF1-14C7E0DAE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075" y="1218079"/>
            <a:ext cx="7562926" cy="502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11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23CFFF-9766-6FA1-2BF9-39C0302CE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8846"/>
            <a:ext cx="12192000" cy="528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15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D4A84F-0266-6D7C-182F-1BE5E1C34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77" y="152400"/>
            <a:ext cx="10434918" cy="632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599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8821A1-F786-59B3-D734-48F7EDD47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212" y="654425"/>
            <a:ext cx="9251576" cy="535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351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DE230E-74AC-F6E5-9945-331262C99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87" y="762000"/>
            <a:ext cx="11706225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83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48A1D737-2557-8C49-004F-1D35AF51D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537448"/>
            <a:ext cx="9575334" cy="486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254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40FFCB-1D43-5DC5-2294-ED232A583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765" y="-167581"/>
            <a:ext cx="6033247" cy="359658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B2CA592-8F3B-231D-0997-D7BA59E7DAEC}"/>
              </a:ext>
            </a:extLst>
          </p:cNvPr>
          <p:cNvSpPr/>
          <p:nvPr/>
        </p:nvSpPr>
        <p:spPr>
          <a:xfrm>
            <a:off x="1461247" y="3429000"/>
            <a:ext cx="9968753" cy="32138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5E9C25-E5B4-48F1-DA5A-C2B637ED3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713" y="3476104"/>
            <a:ext cx="3926100" cy="29605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C97401-7773-BBB8-6C36-8FBCBC79E7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188" y="3567953"/>
            <a:ext cx="4876801" cy="286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77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4D22F-55B0-65AD-2972-84DD07D0E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27847"/>
          </a:xfrm>
        </p:spPr>
        <p:txBody>
          <a:bodyPr/>
          <a:lstStyle/>
          <a:p>
            <a:r>
              <a:rPr lang="en-GB" dirty="0"/>
              <a:t>LA Is Two Cities Inside One</a:t>
            </a:r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88BB0369-1534-85D3-D83D-07B4DAB3DD4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30751506"/>
                  </p:ext>
                </p:extLst>
              </p:nvPr>
            </p:nvGraphicFramePr>
            <p:xfrm>
              <a:off x="1165412" y="1386159"/>
              <a:ext cx="3048000" cy="1714500"/>
            </p:xfrm>
            <a:graphic>
              <a:graphicData uri="http://schemas.microsoft.com/office/powerpoint/2016/slidezoom">
                <pslz:sldZm>
                  <pslz:sldZmObj sldId="262" cId="1561254532">
                    <pslz:zmPr id="{4D324122-6361-4C84-A649-30CA71C85AEB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8BB0369-1534-85D3-D83D-07B4DAB3DD4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5412" y="1386159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811E390-019E-A00F-ABCC-8A79BAC6E758}"/>
              </a:ext>
            </a:extLst>
          </p:cNvPr>
          <p:cNvSpPr txBox="1"/>
          <p:nvPr/>
        </p:nvSpPr>
        <p:spPr>
          <a:xfrm>
            <a:off x="5459506" y="2635624"/>
            <a:ext cx="4590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375CD8-9B3B-4310-5B78-228E9F84FBB0}"/>
              </a:ext>
            </a:extLst>
          </p:cNvPr>
          <p:cNvSpPr txBox="1"/>
          <p:nvPr/>
        </p:nvSpPr>
        <p:spPr>
          <a:xfrm>
            <a:off x="5611906" y="2788024"/>
            <a:ext cx="4590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3FB523-4E14-F87E-02C8-8F730A04FFCB}"/>
              </a:ext>
            </a:extLst>
          </p:cNvPr>
          <p:cNvSpPr txBox="1"/>
          <p:nvPr/>
        </p:nvSpPr>
        <p:spPr>
          <a:xfrm>
            <a:off x="5348472" y="1298575"/>
            <a:ext cx="54450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r>
              <a:rPr lang="en-GB" b="1" dirty="0"/>
              <a:t>Property Crime</a:t>
            </a:r>
            <a:r>
              <a:rPr lang="en-GB" dirty="0"/>
              <a:t> — peaks at victim age 35, maintains high counts through 40s — targets middle-aged adults </a:t>
            </a:r>
          </a:p>
          <a:p>
            <a:endParaRPr lang="en-GB" dirty="0"/>
          </a:p>
          <a:p>
            <a:r>
              <a:rPr lang="en-GB" dirty="0"/>
              <a:t> </a:t>
            </a:r>
            <a:r>
              <a:rPr lang="en-GB" b="1" dirty="0"/>
              <a:t>Violent Crime</a:t>
            </a:r>
            <a:r>
              <a:rPr lang="en-GB" dirty="0"/>
              <a:t> — peaks at age 30, drops faster — concentrates on younger victims Both categories drop sharply after age 50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E59F62-308D-8734-0FF0-46848C073D6C}"/>
              </a:ext>
            </a:extLst>
          </p:cNvPr>
          <p:cNvSpPr txBox="1"/>
          <p:nvPr/>
        </p:nvSpPr>
        <p:spPr>
          <a:xfrm>
            <a:off x="5091953" y="3805099"/>
            <a:ext cx="61766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1" dirty="0">
                <a:solidFill>
                  <a:schemeClr val="tx2"/>
                </a:solidFill>
                <a:effectLst/>
                <a:latin typeface="quote-cjk-patch"/>
              </a:rPr>
              <a:t>West LA and Devonshire — highest mean vitamin age — but </a:t>
            </a:r>
            <a:r>
              <a:rPr lang="en-GB" b="1" i="1" dirty="0">
                <a:solidFill>
                  <a:schemeClr val="tx2"/>
                </a:solidFill>
                <a:effectLst/>
                <a:latin typeface="quote-cjk-patch"/>
              </a:rPr>
              <a:t>low certainty</a:t>
            </a:r>
            <a:r>
              <a:rPr lang="en-GB" b="0" i="1" dirty="0">
                <a:solidFill>
                  <a:schemeClr val="tx2"/>
                </a:solidFill>
                <a:effectLst/>
                <a:latin typeface="quote-cjk-patch"/>
              </a:rPr>
              <a:t> (red, wide strips) — not statistically reliable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i="1" dirty="0">
              <a:solidFill>
                <a:schemeClr val="tx2"/>
              </a:solidFill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1" dirty="0">
                <a:solidFill>
                  <a:schemeClr val="tx2"/>
                </a:solidFill>
                <a:effectLst/>
                <a:latin typeface="quote-cjk-patch"/>
              </a:rPr>
              <a:t>Southwest and Newton — lowest mean vitamin age — </a:t>
            </a:r>
            <a:r>
              <a:rPr lang="en-GB" b="1" i="1" dirty="0">
                <a:solidFill>
                  <a:schemeClr val="tx2"/>
                </a:solidFill>
                <a:effectLst/>
                <a:latin typeface="quote-cjk-patch"/>
              </a:rPr>
              <a:t>high certainty</a:t>
            </a:r>
            <a:r>
              <a:rPr lang="en-GB" b="0" i="1" dirty="0">
                <a:solidFill>
                  <a:schemeClr val="tx2"/>
                </a:solidFill>
                <a:effectLst/>
                <a:latin typeface="quote-cjk-patch"/>
              </a:rPr>
              <a:t> (green, narrow strips) — statistically reliable</a:t>
            </a:r>
            <a:br>
              <a:rPr lang="en-GB" dirty="0"/>
            </a:br>
            <a:endParaRPr lang="en-US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8" name="Slide Zoom 17">
                <a:extLst>
                  <a:ext uri="{FF2B5EF4-FFF2-40B4-BE49-F238E27FC236}">
                    <a16:creationId xmlns:a16="http://schemas.microsoft.com/office/drawing/2014/main" id="{17FBB71F-02EE-3700-A72B-4331DA72758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4628002"/>
                  </p:ext>
                </p:extLst>
              </p:nvPr>
            </p:nvGraphicFramePr>
            <p:xfrm>
              <a:off x="1165412" y="3757341"/>
              <a:ext cx="3048000" cy="1714500"/>
            </p:xfrm>
            <a:graphic>
              <a:graphicData uri="http://schemas.microsoft.com/office/powerpoint/2016/slidezoom">
                <pslz:sldZm>
                  <pslz:sldZmObj sldId="264" cId="480783348">
                    <pslz:zmPr id="{2FFFF014-7997-4AAD-9495-CC34E71E715B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8" name="Slide Zoom 17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17FBB71F-02EE-3700-A72B-4331DA7275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5412" y="375734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76B718E2-BE14-295A-F4F3-807601776949}"/>
              </a:ext>
            </a:extLst>
          </p:cNvPr>
          <p:cNvSpPr txBox="1"/>
          <p:nvPr/>
        </p:nvSpPr>
        <p:spPr>
          <a:xfrm>
            <a:off x="646111" y="5762374"/>
            <a:ext cx="108845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1" dirty="0">
                <a:solidFill>
                  <a:schemeClr val="tx2"/>
                </a:solidFill>
                <a:effectLst/>
                <a:latin typeface="quote-cjk-patch"/>
              </a:rPr>
              <a:t>The older the mean victim age, the less reliable the estimate. The younger the mean vitamin age, the more reliable</a:t>
            </a:r>
          </a:p>
          <a:p>
            <a:pPr algn="ctr"/>
            <a:r>
              <a:rPr lang="en-GB" i="1" dirty="0">
                <a:solidFill>
                  <a:schemeClr val="tx2"/>
                </a:solidFill>
                <a:latin typeface="quote-cjk-patch"/>
              </a:rPr>
              <a:t>(</a:t>
            </a:r>
            <a:r>
              <a:rPr lang="en-GB" b="0" i="1" dirty="0">
                <a:solidFill>
                  <a:schemeClr val="tx2"/>
                </a:solidFill>
                <a:effectLst/>
                <a:latin typeface="quote-cjk-patch"/>
              </a:rPr>
              <a:t>Statistically, we can trust the younger-area findings. The older-area findings are too uncertain to act on.</a:t>
            </a:r>
            <a:r>
              <a:rPr lang="en-GB" i="1" dirty="0">
                <a:solidFill>
                  <a:schemeClr val="tx2"/>
                </a:solidFill>
                <a:latin typeface="quote-cjk-patch"/>
              </a:rPr>
              <a:t>)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3183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901</TotalTime>
  <Words>1026</Words>
  <Application>Microsoft Office PowerPoint</Application>
  <PresentationFormat>Widescreen</PresentationFormat>
  <Paragraphs>93</Paragraphs>
  <Slides>27</Slides>
  <Notes>0</Notes>
  <HiddenSlides>14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Andalus</vt:lpstr>
      <vt:lpstr>Arial</vt:lpstr>
      <vt:lpstr>Century Gothic</vt:lpstr>
      <vt:lpstr>quote-cjk-patch</vt:lpstr>
      <vt:lpstr>Wingdings</vt:lpstr>
      <vt:lpstr>Wingdings 3</vt:lpstr>
      <vt:lpstr>Ion</vt:lpstr>
      <vt:lpstr>LA Crime Analytics Dashboard</vt:lpstr>
      <vt:lpstr>Out of the Handcuffs: 97% of LA Burglars Are Still Loose</vt:lpstr>
      <vt:lpstr>What We Found: The Baseline (phase 1)</vt:lpstr>
      <vt:lpstr>How Bad Is the Arrest Rate? Now We Know Exactly</vt:lpstr>
      <vt:lpstr>Property and Violent Crime Run on Opposite Clocks  </vt:lpstr>
      <vt:lpstr>The Overload Effect</vt:lpstr>
      <vt:lpstr>Statistical Certainty Varies by Arrest Rate</vt:lpstr>
      <vt:lpstr>The Data Proves Complexity </vt:lpstr>
      <vt:lpstr>2024 Drop Is a Data Artifact</vt:lpstr>
      <vt:lpstr>What the Data Recommends </vt:lpstr>
      <vt:lpstr>Solution 2 — Permanent Presence for an Unpredictable Crime</vt:lpstr>
      <vt:lpstr>Solution 3 — The Overload Fix </vt:lpstr>
      <vt:lpstr>Solution 4 — Division-Specific Scheduling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 Is Two Cities Inside 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Crime Analytics Dashboard</dc:title>
  <dc:creator>AHMAD HUSAM AHMAD ABU ZAYAD</dc:creator>
  <cp:lastModifiedBy>AHMAD HUSAM AHMAD ABU ZAYAD</cp:lastModifiedBy>
  <cp:revision>69</cp:revision>
  <dcterms:created xsi:type="dcterms:W3CDTF">2026-05-22T11:41:14Z</dcterms:created>
  <dcterms:modified xsi:type="dcterms:W3CDTF">2026-05-24T21:13:26Z</dcterms:modified>
</cp:coreProperties>
</file>